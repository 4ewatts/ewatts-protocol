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572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A6A7A"/>
                </a:solidFill>
                <a:latin typeface="Calibri Light"/>
              </a:defRPr>
            </a:pPr>
            <a:r>
              <a:t>EWATTS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Energy-backed neutral</a:t>
            </a:r>
            <a:br/>
            <a:r>
              <a:t>settlement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 Light"/>
              </a:defRPr>
            </a:pPr>
            <a:r>
              <a:t>Phase 2: Testnet    84 tests    0 warnings    Permissionless    Private by default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Money without a ruler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Calibri Light"/>
              </a:defRPr>
            </a:pPr>
            <a:r>
              <a:t>Current monetary systems lack a verifiable physical anchor.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A6A7A"/>
                </a:solidFill>
                <a:latin typeface="Calibri Light"/>
              </a:defRPr>
            </a:pPr>
            <a:r>
              <a:t>Bitcoin: 25-30% annual efficiency drift from ASICs. Fiat: policy-dependent supply. Gold: expensive to store and move.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 Light"/>
              </a:defRPr>
            </a:pPr>
            <a:r>
              <a:t>eWatts replaces speculation with physics. Every coin costs measurable energy to produce. The anchor is DRAM latency, a bottleneck that has not improved in 17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Why DRAM?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Calibri Light"/>
              </a:defRPr>
            </a:pPr>
            <a:r>
              <a:t>The only physical bottleneck that has not improved in 17 years</a:t>
            </a:r>
          </a:p>
        </p:txBody>
      </p:sp>
      <p:pic>
        <p:nvPicPr>
          <p:cNvPr id="5" name="Picture 4" descr="chart_d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1069848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7A"/>
                </a:solidFill>
                <a:latin typeface="Calibri Light"/>
              </a:defRPr>
            </a:pPr>
            <a:r>
              <a:t>Source: historical ASIC specifications and JEDEC DRAM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3-Layer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Calibri Light"/>
              </a:defRPr>
            </a:pPr>
            <a:r>
              <a:t>Strict separation of execution, interpretation, and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657600"/>
            <a:ext cx="3200400" cy="274320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3657600"/>
            <a:ext cx="54864" cy="2743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 Light"/>
              </a:defRPr>
            </a:pPr>
            <a:r>
              <a:t>L1: Protocol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 Light"/>
              </a:defRPr>
            </a:pPr>
            <a:r>
              <a:t>Deterministic state machine</a:t>
            </a:r>
            <a:br/>
            <a:r>
              <a:t>Block validity, UTXO</a:t>
            </a:r>
            <a:br/>
            <a:r>
              <a:t>Emission function</a:t>
            </a:r>
            <a:br/>
            <a:r>
              <a:t>Verifiable by any node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3657600"/>
            <a:ext cx="3200400" cy="274320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3657600"/>
            <a:ext cx="54864" cy="2743200"/>
          </a:xfrm>
          <a:prstGeom prst="rect">
            <a:avLst/>
          </a:prstGeom>
          <a:solidFill>
            <a:srgbClr val="A05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5AF6"/>
                </a:solidFill>
                <a:latin typeface="Calibri Light"/>
              </a:defRPr>
            </a:pPr>
            <a:r>
              <a:t>L2: Economic Hypothesis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42976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 Light"/>
              </a:defRPr>
            </a:pPr>
            <a:r>
              <a:t>Interpretation layer only</a:t>
            </a:r>
            <a:br/>
            <a:r>
              <a:t>Substrate class analysis</a:t>
            </a:r>
            <a:br/>
            <a:r>
              <a:t>Improvement rate differential</a:t>
            </a:r>
            <a:br/>
            <a:r>
              <a:t>Falsifiable conditions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657600"/>
            <a:ext cx="3200400" cy="274320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54864" cy="2743200"/>
          </a:xfrm>
          <a:prstGeom prst="rect">
            <a:avLst/>
          </a:prstGeom>
          <a:solidFill>
            <a:srgbClr val="C8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C84A"/>
                </a:solidFill>
                <a:latin typeface="Calibri Light"/>
              </a:defRPr>
            </a:pPr>
            <a:r>
              <a:t>L3: Adversarial Consensus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2976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 Light"/>
              </a:defRPr>
            </a:pPr>
            <a:r>
              <a:t>Robustness under chaos</a:t>
            </a:r>
            <a:br/>
            <a:r>
              <a:t>Fork reality model</a:t>
            </a:r>
            <a:br/>
            <a:r>
              <a:t>Network stochasticity</a:t>
            </a:r>
            <a:br/>
            <a:r>
              <a:t>Strategic miner competition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Emission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Calibri Light"/>
              </a:defRPr>
            </a:pPr>
            <a:r>
              <a:t>Elastic supply, anchored to real bandwidth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Calibri Light"/>
              </a:defRPr>
            </a:pPr>
            <a:r>
              <a:t>R = BASE_EMISSION x (total_eff / historical_avg)  |  Clamped [0.05x, 20x]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 Light"/>
              </a:defRPr>
            </a:pPr>
            <a:r>
              <a:t>BASE_EMISSION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  <a:latin typeface="Calibri Light"/>
              </a:defRPr>
            </a:pPr>
            <a:r>
              <a:t>100 eWatt/block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5AF6"/>
                </a:solidFill>
                <a:latin typeface="Calibri Light"/>
              </a:defRPr>
            </a:pPr>
            <a:r>
              <a:t>Historical Avg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617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  <a:latin typeface="Calibri Light"/>
              </a:defRPr>
            </a:pPr>
            <a:r>
              <a:t>4,300 blocks (30 days)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C84A"/>
                </a:solidFill>
                <a:latin typeface="Calibri Light"/>
              </a:defRPr>
            </a:pPr>
            <a:r>
              <a:t>Ramp-up (1-10k blocks)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  <a:latin typeface="Calibri Light"/>
              </a:defRPr>
            </a:pPr>
            <a:r>
              <a:t>80% cap per miner, excess burned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AC86A"/>
                </a:solidFill>
                <a:latin typeface="Calibri Light"/>
              </a:defRPr>
            </a:pPr>
            <a:r>
              <a:t>Founder 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623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  <a:latin typeface="Calibri Light"/>
              </a:defRPr>
            </a:pPr>
            <a:r>
              <a:t>max(50,000, block + 40,000)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Calibri Light"/>
              </a:defRPr>
            </a:pPr>
            <a:r>
              <a:t>Privacy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  <a:latin typeface="Calibri Light"/>
              </a:defRPr>
            </a:pPr>
            <a:r>
              <a:t>95% miners + 95% nodes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Nuhub: DePIN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Calibri Light"/>
              </a:defRPr>
            </a:pPr>
            <a:r>
              <a:t>Where spare compute meets stable payments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2560320" cy="228600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54864" cy="2286000"/>
          </a:xfrm>
          <a:prstGeom prst="rect">
            <a:avLst/>
          </a:prstGeom>
          <a:solidFill>
            <a:srgbClr val="6A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AC86A"/>
                </a:solidFill>
                <a:latin typeface="Calibri Light"/>
              </a:defRPr>
            </a:pPr>
            <a:r>
              <a:t>GPU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548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 Light"/>
              </a:defRPr>
            </a:pPr>
            <a:r>
              <a:t>Pay-as-you-go AI inference</a:t>
            </a:r>
            <a:br/>
            <a:r>
              <a:t>Seller proves with signature</a:t>
            </a:r>
            <a:br/>
            <a:r>
              <a:t>over result hash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4114800"/>
            <a:ext cx="2560320" cy="228600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4114800"/>
            <a:ext cx="54864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 Light"/>
              </a:defRPr>
            </a:pPr>
            <a:r>
              <a:t>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47548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 Light"/>
              </a:defRPr>
            </a:pPr>
            <a:r>
              <a:t>Rent unused disk space</a:t>
            </a:r>
            <a:br/>
            <a:r>
              <a:t>Payment on proof of</a:t>
            </a:r>
            <a:br/>
            <a:r>
              <a:t>regular data integrity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4114800"/>
            <a:ext cx="2560320" cy="228600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4114800"/>
            <a:ext cx="54864" cy="2286000"/>
          </a:xfrm>
          <a:prstGeom prst="rect">
            <a:avLst/>
          </a:prstGeom>
          <a:solidFill>
            <a:srgbClr val="A05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59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5AF6"/>
                </a:solidFill>
                <a:latin typeface="Calibri Light"/>
              </a:defRPr>
            </a:pPr>
            <a:r>
              <a:t>Compute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47548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 Light"/>
              </a:defRPr>
            </a:pPr>
            <a:r>
              <a:t>Idle CPU batch processing</a:t>
            </a:r>
            <a:br/>
            <a:r>
              <a:t>Verified by random</a:t>
            </a:r>
            <a:br/>
            <a:r>
              <a:t>recomputation sampling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72600" y="4114800"/>
            <a:ext cx="2560320" cy="228600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72600" y="4114800"/>
            <a:ext cx="54864" cy="2286000"/>
          </a:xfrm>
          <a:prstGeom prst="rect">
            <a:avLst/>
          </a:prstGeom>
          <a:solidFill>
            <a:srgbClr val="C8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C84A"/>
                </a:solidFill>
                <a:latin typeface="Calibri Light"/>
              </a:defRPr>
            </a:pPr>
            <a:r>
              <a:t>Bandwidth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47548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 Light"/>
              </a:defRPr>
            </a:pPr>
            <a:r>
              <a:t>Edge content delivery</a:t>
            </a:r>
            <a:br/>
            <a:r>
              <a:t>Seller earns eWatt</a:t>
            </a:r>
            <a:br/>
            <a:r>
              <a:t>per GB 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2560320" cy="25603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54864" cy="2560320"/>
          </a:xfrm>
          <a:prstGeom prst="rect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Calibri Light"/>
              </a:defRPr>
            </a:pPr>
            <a:r>
              <a:t>Phase 1: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480560"/>
            <a:ext cx="21031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 Light"/>
              </a:defRPr>
            </a:pPr>
            <a:r>
              <a:t>Protocol, privacy, MBPoW</a:t>
            </a:r>
            <a:br/>
            <a:r>
              <a:t>Local testnet, 84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0B0"/>
                </a:solidFill>
                <a:latin typeface="Calibri Light"/>
              </a:defRPr>
            </a:pPr>
            <a:r>
              <a:t>● DONE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3840480"/>
            <a:ext cx="2560320" cy="25603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3840480"/>
            <a:ext cx="54864" cy="2560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 Light"/>
              </a:defRPr>
            </a:pPr>
            <a:r>
              <a:t>Phase 2: Testnet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4480560"/>
            <a:ext cx="21031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 Light"/>
              </a:defRPr>
            </a:pPr>
            <a:r>
              <a:t>Public testnet, community</a:t>
            </a:r>
            <a:br/>
            <a:r>
              <a:t>Nuhub escrow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 Light"/>
              </a:defRPr>
            </a:pPr>
            <a:r>
              <a:t>● NOW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3840480"/>
            <a:ext cx="2560320" cy="25603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3840480"/>
            <a:ext cx="54864" cy="2560320"/>
          </a:xfrm>
          <a:prstGeom prst="rect">
            <a:avLst/>
          </a:prstGeom>
          <a:solidFill>
            <a:srgbClr val="A05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59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5AF6"/>
                </a:solidFill>
                <a:latin typeface="Calibri Light"/>
              </a:defRPr>
            </a:pPr>
            <a:r>
              <a:t>Phase 3: Mainnet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4480560"/>
            <a:ext cx="21031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 Light"/>
              </a:defRPr>
            </a:pPr>
            <a:r>
              <a:t>Launch, wallet, exchange</a:t>
            </a:r>
            <a:br/>
            <a:r>
              <a:t>Nuhub marketplace release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0B0"/>
                </a:solidFill>
                <a:latin typeface="Calibri Light"/>
              </a:defRPr>
            </a:pPr>
            <a:r>
              <a:t>● NEXT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72600" y="3840480"/>
            <a:ext cx="2560320" cy="25603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72600" y="3840480"/>
            <a:ext cx="54864" cy="2560320"/>
          </a:xfrm>
          <a:prstGeom prst="rect">
            <a:avLst/>
          </a:prstGeom>
          <a:solidFill>
            <a:srgbClr val="C8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C84A"/>
                </a:solidFill>
                <a:latin typeface="Calibri Light"/>
              </a:defRPr>
            </a:pPr>
            <a:r>
              <a:t>Phase 4: Maturity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4480560"/>
            <a:ext cx="21031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 Light"/>
              </a:defRPr>
            </a:pPr>
            <a:r>
              <a:t>Community governance</a:t>
            </a:r>
            <a:br/>
            <a:r>
              <a:t>Cross-chain, wallet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0B0"/>
                </a:solidFill>
                <a:latin typeface="Calibri Light"/>
              </a:defRPr>
            </a:pPr>
            <a:r>
              <a:t>● FUTURE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A more honest store of energy.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Calibri Light"/>
              </a:defRPr>
            </a:pPr>
            <a:r>
              <a:t>eWatts is an energy-backed neutral settlement layer. Permissionless. Private. Physics-based.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Calibri Light"/>
              </a:defRPr>
            </a:pPr>
            <a:r>
              <a:t>github.com/4Ewatts/ewatts-protocol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7A"/>
                </a:solidFill>
                <a:latin typeface="Calibri Light"/>
              </a:defRPr>
            </a:pPr>
            <a:r>
              <a:t>Phase 2: Testnet   |   84 tests passing   |   MIT License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